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</ns0:embeddedFont>
    <ns0:embeddedFont>
      <ns0:font typeface="Inter"/>
      <ns0:bold ns1:id="rIdFont20"/>
      <ns0:boldItalic ns1:id="rIdFont21"/>
      <ns0:regular ns1:id="rIdFont22"/>
    </ns0:embeddedFont>
    <ns0:embeddedFont>
      <ns0:font typeface="JetBrains Mono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5062636-ced6-485f-b7dd-842ec579dfc0.fntdata" /><ns0:Relationship Id="rIdFont20" Type="http://schemas.openxmlformats.org/officeDocument/2006/relationships/font" Target="fonts/2345a985-cb19-41bf-8588-f487845ff03e.fntdata" /><ns0:Relationship Id="rIdFont21" Type="http://schemas.openxmlformats.org/officeDocument/2006/relationships/font" Target="fonts/3b33761f-448f-4ecd-9497-756f1a60408b.fntdata" /><ns0:Relationship Id="rIdFont22" Type="http://schemas.openxmlformats.org/officeDocument/2006/relationships/font" Target="fonts/5b87843c-4f09-4cda-a817-d0c6f35c0991.fntdata" /><ns0:Relationship Id="rIdFont23" Type="http://schemas.openxmlformats.org/officeDocument/2006/relationships/font" Target="fonts/0aa4d819-aec9-4e71-89fe-2ef81c3c7243.fntdata" /><ns0:Relationship Id="rIdFont24" Type="http://schemas.openxmlformats.org/officeDocument/2006/relationships/font" Target="fonts/8509f36c-39c4-4670-b47b-6929fd2f3ce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456658"/>
            <a:ext cx="1000125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791741"/>
            <a:ext cx="2581275" cy="285750"/>
          </a:xfrm>
          <a:prstGeom prst="roundRect">
            <a:avLst>
              <a:gd name="adj" fmla="val 13333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456658"/>
            <a:ext cx="10001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82250" y="4856708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306091"/>
            <a:ext cx="10601325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Real-Time Gesture Control via Coordinate Landmark Extraction vs. Pixel CNNs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04158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Empirical Evaluation of Latency (ms), Accuracy (%), and Resource Footprint for a 5-Class HCI Control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848891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JetBrains Mono"/>
              </a:rPr>
              <a:t>RESEARCH TOPIC 7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575" y="1853654"/>
            <a:ext cx="2559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25-Minute Final Project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94783"/>
            <a:ext cx="2500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CORE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75758"/>
            <a:ext cx="2500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Feature Extraction &amp;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7050" y="4694783"/>
            <a:ext cx="2024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TARGET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7050" y="4875758"/>
            <a:ext cx="2024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Embedded HCI &amp;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694783"/>
            <a:ext cx="2369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EVALUATION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1100" y="4875758"/>
            <a:ext cx="2369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IEEE Comparative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21284"/>
            <a:ext cx="10972800" cy="135820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421284"/>
            <a:ext cx="38100" cy="135820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08090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4008090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4008090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6526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6526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4265265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01. CORE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Research Question &amp; 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687984"/>
            <a:ext cx="1123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CENTRAL THESIS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926109"/>
            <a:ext cx="104203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1" u="none">
                <a:solidFill>
                  <a:srgbClr val="0F172A"/>
                </a:solidFill>
                <a:latin typeface="Inter"/>
              </a:rPr>
              <a:t>"Can a lightweight landmark-based approach (MediaPipe + MLP/LSTM) outperform traditional pixel-based CNN architectures in latency (ms) and accuracy (%) for a 5-class HCI gesture system?"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36690"/>
            <a:ext cx="40005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31965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Compare spatial tensor convolutions against coordinate keypoints for real-time edge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36690"/>
            <a:ext cx="40005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Target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31965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Low-power CPU/Edge execution without dedicated desktop GPU hardware acceleration.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236690"/>
            <a:ext cx="38862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Dataset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4531965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1,724 benchmark samples evaluated across 5 distinct gesture classes with 80/20 train-test splits.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5343525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781300"/>
            <a:ext cx="5324475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5350" y="3376612"/>
            <a:ext cx="4772025" cy="55245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34150" y="3457575"/>
            <a:ext cx="4772025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00575" y="2990850"/>
            <a:ext cx="10668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15575" y="3071812"/>
            <a:ext cx="9906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02.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Dual-Pipeline Processing Paradigms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490912"/>
            <a:ext cx="46386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JetBrains Mono"/>
              </a:rPr>
              <a:t>Input Frame → MediaPipe → 21 Keypoints (x,y,z) → MLP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3571875"/>
            <a:ext cx="4638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JetBrains Mono"/>
              </a:rPr>
              <a:t>Raw Tensor (64x64) → Conv2D → MaxPool → Dense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976562"/>
            <a:ext cx="337542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Space Grotesk"/>
              </a:rPr>
              <a:t>Pipeline A: Landmark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6775" y="3028950"/>
            <a:ext cx="1009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081462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081462"/>
            <a:ext cx="5750718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Dimensions: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63 numerical floating-point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310062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310062"/>
            <a:ext cx="5750718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Spatial Abstraction: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Background pixels completely discarded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538662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538662"/>
            <a:ext cx="5750718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Invariance: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Robust against lighting &amp; background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057525"/>
            <a:ext cx="337542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Space Grotesk"/>
              </a:rPr>
              <a:t>Pipeline B: Pixel Convolution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91775" y="3109912"/>
            <a:ext cx="933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BASELINE 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005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000500"/>
            <a:ext cx="5486400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Dimensions: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4,096 raw pixel intensity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2291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0" y="4229100"/>
            <a:ext cx="5486400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Spatial Processing: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Convolutions computed over total grid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4577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4457700"/>
            <a:ext cx="5486400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Overhead: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Sensitive to visual noise &amp; camera variations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0775"/>
            <a:ext cx="109728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2619375"/>
            <a:ext cx="29654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13225" y="2619375"/>
            <a:ext cx="29654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8250" y="2619375"/>
            <a:ext cx="29654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391025"/>
            <a:ext cx="3505200" cy="962025"/>
          </a:xfrm>
          <a:prstGeom prst="roundRect">
            <a:avLst>
              <a:gd name="adj" fmla="val 11881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4391025"/>
            <a:ext cx="3505200" cy="962025"/>
          </a:xfrm>
          <a:prstGeom prst="roundRect">
            <a:avLst>
              <a:gd name="adj" fmla="val 11881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4391025"/>
            <a:ext cx="3505200" cy="962025"/>
          </a:xfrm>
          <a:prstGeom prst="roundRect">
            <a:avLst>
              <a:gd name="adj" fmla="val 11881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00" y="316230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25" y="316230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225" y="28194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51" y="28194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5126" y="2819400"/>
            <a:ext cx="5715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03.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MediaPipe 3D Landmark Geometry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556" y="3390900"/>
            <a:ext cx="3206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21 Joint Keypoints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556" y="3590925"/>
            <a:ext cx="3206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Wrist, MCP, PIP, DIP &amp; Fingertips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2581" y="3390900"/>
            <a:ext cx="3206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3D Spatial Bounds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2581" y="3590925"/>
            <a:ext cx="3206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(X, Y) Screen + (Z) Depth Relative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606" y="3390900"/>
            <a:ext cx="3206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3A8A"/>
                </a:solidFill>
                <a:latin typeface="Inter"/>
              </a:rPr>
              <a:t>Normalized Tensor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606" y="3590925"/>
            <a:ext cx="3206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Inter"/>
              </a:rPr>
              <a:t>Flat 63-Element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581525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Palm Bounding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838700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BlazeFace detector provides stable initial palm cropping.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81525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Relative Wrist Origin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38700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Coordinates normalized against wrist node to ensure translation invariance.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581525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Zero Background 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4838700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Classifier input isolates skeletal structure from pixel clutter.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490787"/>
          <a:ext cx="10972798" cy="2724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1179"/>
                <a:gridCol w="3045916"/>
                <a:gridCol w="2671316"/>
                <a:gridCol w="2484387"/>
              </a:tblGrid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Metric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Pipeline A (MediaPipe + MLP)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Pipeline B (Pixel CNN)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Empirical Advantage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Inter"/>
                        </a:rPr>
                        <a:t>Classification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98.26%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96.81%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+1.45% Accuracy Gain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Inter"/>
                        </a:rPr>
                        <a:t>Inference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0.62 ms / 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8.45 ms / 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13.63x Speedup Factor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Inter"/>
                        </a:rPr>
                        <a:t>FPS Throughput Capacity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1,612.9 FPS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118.3 FPS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+1,494.6 FPS Margin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Inter"/>
                        </a:rPr>
                        <a:t>Training Convergence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3.40 seconds (5 Epochs)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48.20 seconds (5 Epochs)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14.17x Faster Training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Inter"/>
                        </a:rPr>
                        <a:t>Runtime Memory Footprint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0.45 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52.10 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99.13% RAM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04. 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Quantitative Performance Comparison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05. LATENCY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Inference Latency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9625" y="2933700"/>
            <a:ext cx="3690937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2563EB"/>
                </a:solidFill>
                <a:latin typeface="Inter"/>
              </a:rPr>
              <a:t>13.6x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7437" y="4229100"/>
            <a:ext cx="9346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Faster inference per frame compared to traditional 2D CNN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3712" y="4581525"/>
            <a:ext cx="7655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Sub-millisecond model inference (0.62 ms) guarantees zero interface perceptual 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109728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33725"/>
            <a:ext cx="10781853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886200"/>
            <a:ext cx="800992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0592" y="3886200"/>
            <a:ext cx="10171658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638675"/>
            <a:ext cx="109686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286" y="4638675"/>
            <a:ext cx="10862964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86200"/>
            <a:ext cx="109728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38675"/>
            <a:ext cx="109728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06. VISUAL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Resource Footprint &amp; Accuracy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76550"/>
            <a:ext cx="2440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Classification Accuracy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8700" y="2876550"/>
            <a:ext cx="3543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Pipeline A: 98.26% vs. Pipeline B: 96.81%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29025"/>
            <a:ext cx="3500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Inference Latency (Lower is Better - 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275" y="3629025"/>
            <a:ext cx="35147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Pipeline A: 0.62ms vs. Pipeline B: 8.45ms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381500"/>
            <a:ext cx="4226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Model Parameter Memory (Lower is Better - 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325" y="4381500"/>
            <a:ext cx="3495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Pipeline A: 0.45MB vs. Pipeline B: 52.1MB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47957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40322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16547"/>
            <a:ext cx="81010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Space Grotesk"/>
              </a:rPr>
              <a:t>Live Web Architecture &amp; Execution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74727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Client-side browser deployment pipeline operating via WebGL &amp; WebAssembly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1825"/>
            <a:ext cx="262890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171825"/>
            <a:ext cx="262890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171825"/>
            <a:ext cx="262890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171825"/>
            <a:ext cx="262890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409950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29025" y="3409950"/>
            <a:ext cx="70485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10325" y="3409950"/>
            <a:ext cx="70485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91625" y="3409950"/>
            <a:ext cx="70485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07. LIVE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Real-Time Browser Execution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48050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STAGE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528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Frame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48125"/>
            <a:ext cx="2247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HTML5 webcam stream at 60 FPS.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5225" y="34480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STAGE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7528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WASM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4048125"/>
            <a:ext cx="2247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MediaPipe predicts 21 3D landmarks.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4480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STAGE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7528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MLP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4048125"/>
            <a:ext cx="2247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TensorFlow.js outputs gesture class.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825" y="34480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STAGE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7528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Canvas 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4048125"/>
            <a:ext cx="2247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Skeletal joints rendered over video feed.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62275"/>
            <a:ext cx="19050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95675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29075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62475"/>
            <a:ext cx="19050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08. TECHNICAL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Key Insights &amp; Analytical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947987"/>
            <a:ext cx="10725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Inter"/>
              </a:rPr>
              <a:t>Dimensional Reduction Impact: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Abstracting raw frames to 63 coordinates cuts feature space volume by 98.46% prior to model classification.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481387"/>
            <a:ext cx="10725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Inter"/>
              </a:rPr>
              <a:t>Lighting Robustness: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Landmark models maintain spatial joint geometry even under varying background illumination where pixel CNNs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014787"/>
            <a:ext cx="10725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Inter"/>
              </a:rPr>
              <a:t>Edge Memory Feasibility: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0.45 MB RAM footprint enables deployment on low-cost microcontrollers and mobile browsers without dedicated GPU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48187"/>
            <a:ext cx="1123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Inter"/>
              </a:rPr>
              <a:t>Higher Classification Accuracy: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Removing visual background clutter boosts 5-class gesture precision from 96.81% to 98.26%.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7660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7660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7660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09.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Target Applications &amp; Deployment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4330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Touchless HCI Kiosks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38575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Zero-contact interface control for public displays and medical operating rooms.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4330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Embedded AR/VR Headsets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38575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Sub-millisecond hand tracking preserves battery life and reduces compute 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43300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Robotic Teleoperation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38575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Real-time low-latency joint mapping for remote manipulator arms.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29100" y="4129087"/>
            <a:ext cx="1905000" cy="314325"/>
          </a:xfrm>
          <a:prstGeom prst="roundRect">
            <a:avLst>
              <a:gd name="adj" fmla="val 12121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4129087"/>
            <a:ext cx="1676400" cy="314325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13671" y="2414587"/>
            <a:ext cx="2964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Inter"/>
              </a:rPr>
              <a:t>PROJECT DEFENSE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8089" y="2690812"/>
            <a:ext cx="657582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Thank You &amp;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424237"/>
            <a:ext cx="7739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Landmark extraction outperforms pixel CNNs by delivering 98.26% accuracy with 13.6x lower inference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3375" y="4205287"/>
            <a:ext cx="2076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0A5FA"/>
                </a:solidFill>
                <a:latin typeface="JetBrains Mono"/>
              </a:rPr>
              <a:t>IEEE Benchmark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9350" y="4205287"/>
            <a:ext cx="1790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4A3B8"/>
                </a:solidFill>
                <a:latin typeface="JetBrains Mono"/>
              </a:rPr>
              <a:t>Topic 7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